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saveSubsetFonts="1" strictFirstAndLastChars="0">
  <p:sldMasterIdLst>
    <p:sldMasterId id="2147483659" r:id="rId4"/>
  </p:sldMasterIdLst>
  <p:sldIdLst>
    <p:sldId id="256" r:id="rId5"/>
    <p:sldId id="257" r:id="rId6"/>
    <p:sldId id="258" r:id="rId7"/>
    <p:sldId id="259" r:id="rId8"/>
  </p:sldIdLst>
  <p:sldSz cx="9144000" cy="51435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showComments="0">
  <p:slideViewPr>
    <p:cSldViewPr snapToGrid="0">
      <p:cViewPr varScale="1">
        <p:scale>
          <a:sx d="100" n="100"/>
          <a:sy d="100" n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1" Type="http://schemas.openxmlformats.org/officeDocument/2006/relationships/theme" Target="theme/theme1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slideMaster" Target="slideMasters/slideMaster1.xml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2" Target="../theme/theme1.xml" Type="http://schemas.openxmlformats.org/officeDocument/2006/relationships/theme" /><Relationship Id="rId9" Target="../slideLayouts/slideLayout9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lvl="0">
              <a:buNone/>
              <a:defRPr sz="1000">
                <a:solidFill>
                  <a:schemeClr val="dk2"/>
                </a:solidFill>
              </a:defRPr>
            </a:lvl1pPr>
            <a:lvl2pPr algn="r" lvl="1">
              <a:buNone/>
              <a:defRPr sz="1000">
                <a:solidFill>
                  <a:schemeClr val="dk2"/>
                </a:solidFill>
              </a:defRPr>
            </a:lvl2pPr>
            <a:lvl3pPr algn="r" lvl="2">
              <a:buNone/>
              <a:defRPr sz="1000">
                <a:solidFill>
                  <a:schemeClr val="dk2"/>
                </a:solidFill>
              </a:defRPr>
            </a:lvl3pPr>
            <a:lvl4pPr algn="r" lvl="3">
              <a:buNone/>
              <a:defRPr sz="1000">
                <a:solidFill>
                  <a:schemeClr val="dk2"/>
                </a:solidFill>
              </a:defRPr>
            </a:lvl4pPr>
            <a:lvl5pPr algn="r" lvl="4">
              <a:buNone/>
              <a:defRPr sz="1000">
                <a:solidFill>
                  <a:schemeClr val="dk2"/>
                </a:solidFill>
              </a:defRPr>
            </a:lvl5pPr>
            <a:lvl6pPr algn="r" lvl="5">
              <a:buNone/>
              <a:defRPr sz="1000">
                <a:solidFill>
                  <a:schemeClr val="dk2"/>
                </a:solidFill>
              </a:defRPr>
            </a:lvl6pPr>
            <a:lvl7pPr algn="r" lvl="6">
              <a:buNone/>
              <a:defRPr sz="1000">
                <a:solidFill>
                  <a:schemeClr val="dk2"/>
                </a:solidFill>
              </a:defRPr>
            </a:lvl7pPr>
            <a:lvl8pPr algn="r" lvl="7">
              <a:buNone/>
              <a:defRPr sz="1000">
                <a:solidFill>
                  <a:schemeClr val="dk2"/>
                </a:solidFill>
              </a:defRPr>
            </a:lvl8pPr>
            <a:lvl9pPr algn="r" lvl="8">
              <a:buNone/>
              <a:defRPr sz="1000">
                <a:solidFill>
                  <a:schemeClr val="dk2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Nopal-Sense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Mixed-Signal Soil Impedance Spectroscopy Hub</a:t>
            </a:r>
            <a:br/>
            <a:r>
              <a:rPr/>
              <a:t>IEEE SSCS PICO Open-Source Chipathon 2026</a:t>
            </a:r>
            <a:br/>
            <a:r>
              <a:rPr/>
              <a:t>Week 24 Project Proposal Review - June 12, 2026</a:t>
            </a:r>
          </a:p>
          <a:p>
            <a:pPr lvl="0" indent="0" marL="0">
              <a:buNone/>
            </a:pPr>
            <a:r>
              <a:rPr b="1"/>
              <a:t>Team members:</a:t>
            </a:r>
            <a:br/>
            <a:r>
              <a:rPr/>
              <a:t>Leader: Ernest Zermeño (@Jefemaestro33)</a:t>
            </a:r>
            <a:br/>
            <a:r>
              <a:rPr/>
              <a:t>Affiliation: Universidad de Guadalajara (individual Track B participant)</a:t>
            </a:r>
          </a:p>
          <a:p>
            <a:pPr lvl="0" indent="0" marL="0">
              <a:buNone/>
            </a:pPr>
            <a:r>
              <a:rPr b="1"/>
              <a:t>Contact email:</a:t>
            </a:r>
            <a:br/>
            <a:r>
              <a:rPr/>
              <a:t>ernest@zlabstudio.com</a:t>
            </a:r>
          </a:p>
          <a:p>
            <a:pPr lvl="0" indent="0" marL="0">
              <a:buNone/>
            </a:pPr>
            <a:r>
              <a:rPr b="1"/>
              <a:t>Track:</a:t>
            </a:r>
            <a:br/>
            <a:r>
              <a:rPr/>
              <a:t>B - Circuits for Sensors</a:t>
            </a:r>
            <a:br/>
            <a:r>
              <a:rPr/>
              <a:t>Secondary relevance: D - AI/LLM-assisted audit and documentation workflow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Information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 (2 sentences)</a:t>
            </a:r>
            <a:br/>
            <a:r>
              <a:rPr/>
              <a:t>Design a low-power mixed-signal ASIC for repeatable soil/root-zone impedance spectroscopy using buried electrodes. The research goal is to generate dense, calibrated datasets to test whether root-zone electrical patterns can indicate abnormal biological activity, including fungal or oomycete-related signals.</a:t>
            </a:r>
          </a:p>
          <a:p>
            <a:pPr lvl="0" indent="0" marL="0">
              <a:buNone/>
            </a:pPr>
            <a:r>
              <a:rPr b="1"/>
              <a:t>Design - High Level Proposal (2-3 sentences + image)</a:t>
            </a:r>
            <a:br/>
            <a:r>
              <a:rPr/>
              <a:t>The chip provides programmable AC excitation, electrode-interface readout, filtering, ADC access, and SPI-configurable control. It supports autonomous low-power frequency sweeps with synchronized moisture/temperature context and electrode contact/health checks. V1 is a measurement platform for calibrated soil data, not a pathogen-diagnosis chip.</a:t>
            </a:r>
          </a:p>
          <a:p>
            <a:pPr lvl="0" indent="0" marL="0">
              <a:buNone/>
            </a:pPr>
            <a:r>
              <a:rPr b="1"/>
              <a:t>Application (1 sentence)</a:t>
            </a:r>
            <a:br/>
            <a:r>
              <a:rPr/>
              <a:t>Low-cost agricultural root-zone monitoring for irrigation, salinity, and abnormal-condition screening, with a long-term path toward validated fungal/oomycete pattern detection.</a:t>
            </a:r>
          </a:p>
          <a:p>
            <a:pPr lvl="0" indent="0" marL="0">
              <a:buNone/>
            </a:pPr>
            <a:r>
              <a:rPr b="1"/>
              <a:t>References</a:t>
            </a:r>
            <a:br/>
            <a:r>
              <a:rPr/>
              <a:t>AD5940/ADuCM355 datasheets; Bukhari et al., arXiv:2508.13379; Zhang et al., Biosensors 2025; Corona-Lopez et al., Plant Methods 2019; Settimi 2011.</a:t>
            </a:r>
          </a:p>
        </p:txBody>
      </p:sp>
      <p:pic>
        <p:nvPicPr>
          <p:cNvPr descr="assets/nopal_sense_chip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Academic Experience</a:t>
            </a:r>
            <a:br/>
            <a:r>
              <a:rPr/>
              <a:t>Ernest Zermeño - Biology background, currently working in bioinformatics research involving CRISPR and experimental biology. Technical interests include computational biology, data analysis, embedded systems, and measurement tools for biological and agricultural systems.</a:t>
            </a:r>
          </a:p>
          <a:p>
            <a:pPr lvl="0" indent="0" marL="0">
              <a:buNone/>
            </a:pPr>
            <a:r>
              <a:rPr b="1"/>
              <a:t>Work Experience</a:t>
            </a:r>
            <a:br/>
            <a:r>
              <a:rPr/>
              <a:t>Software and applied technology work through zlabstudio. Previous work includes exploring FHE-based software development and building practical software systems, with a focus on turning technical ideas into usable tools.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Questions, Suggestions, Doubts?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is the recommended must-work scope for v1 if the full architecture is too large for the tapeout schedule?</a:t>
            </a:r>
          </a:p>
          <a:p>
            <a:pPr lvl="0"/>
            <a:r>
              <a:rPr/>
              <a:t>Should v1 reuse an existing open-source/reference SAR ADC instead of a custom ADC design to reduce schedule risk?</a:t>
            </a:r>
          </a:p>
          <a:p>
            <a:pPr lvl="0"/>
            <a:r>
              <a:rPr/>
              <a:t>What electrode protection, ESD strategy, and analog pad usage are recommended for soil probes connected outside the chip package?</a:t>
            </a:r>
          </a:p>
          <a:p>
            <a:pPr lvl="0"/>
            <a:r>
              <a:rPr/>
              <a:t>What minimum AMS validation evidence is expected by the July block and top-level simulation reviews?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2026-06-11T04:17:31Z</dcterms:created>
  <dcterms:modified xsi:type="dcterms:W3CDTF">2026-06-11T04:17:31Z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