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saveSubsetFonts="1" strictFirstAndLastChars="0">
  <p:sldMasterIdLst>
    <p:sldMasterId id="2147483659" r:id="rId4"/>
  </p:sldMasterIdLst>
  <p:sldIdLst>
    <p:sldId id="256" r:id="rId5"/>
    <p:sldId id="257" r:id="rId6"/>
    <p:sldId id="258" r:id="rId7"/>
    <p:sldId id="259" r:id="rId8"/>
  </p:sldIdLst>
  <p:sldSz cx="9144000" cy="5143500"/>
  <p:notesSz cx="6858000" cy="9144000"/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showComments="0">
  <p:slideViewPr>
    <p:cSldViewPr snapToGrid="0">
      <p:cViewPr varScale="1">
        <p:scale>
          <a:sx d="100" n="100"/>
          <a:sy d="100" n="100"/>
        </p:scale>
        <p:origin x="0" y="0"/>
      </p:cViewPr>
      <p:guideLst>
        <p:guide orient="horz" pos="1620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1" Type="http://schemas.openxmlformats.org/officeDocument/2006/relationships/theme" Target="theme/theme1.xml" /><Relationship Id="rId2" Type="http://schemas.openxmlformats.org/officeDocument/2006/relationships/viewProps" Target="viewProps.xml" /><Relationship Id="rId3" Type="http://schemas.openxmlformats.org/officeDocument/2006/relationships/presProps" Target="presProps.xml" /><Relationship Id="rId4" Type="http://schemas.openxmlformats.org/officeDocument/2006/relationships/slideMaster" Target="slideMasters/slideMaster1.xml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2" Target="../theme/theme1.xml" Type="http://schemas.openxmlformats.org/officeDocument/2006/relationships/theme" /><Relationship Id="rId9" Target="../slideLayouts/slideLayout9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="t" anchorCtr="0" bIns="91425" lIns="91425" rIns="91425" spcFirstLastPara="1" tIns="91425" wrap="square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="t" anchorCtr="0" bIns="91425" lIns="91425" rIns="91425" spcFirstLastPara="1" tIns="91425" wrap="square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91425" lIns="91425" rIns="91425" spcFirstLastPara="1" tIns="91425" wrap="square">
            <a:normAutofit/>
          </a:bodyPr>
          <a:lstStyle>
            <a:lvl1pPr algn="r" lvl="0">
              <a:buNone/>
              <a:defRPr sz="1000">
                <a:solidFill>
                  <a:schemeClr val="dk2"/>
                </a:solidFill>
              </a:defRPr>
            </a:lvl1pPr>
            <a:lvl2pPr algn="r" lvl="1">
              <a:buNone/>
              <a:defRPr sz="1000">
                <a:solidFill>
                  <a:schemeClr val="dk2"/>
                </a:solidFill>
              </a:defRPr>
            </a:lvl2pPr>
            <a:lvl3pPr algn="r" lvl="2">
              <a:buNone/>
              <a:defRPr sz="1000">
                <a:solidFill>
                  <a:schemeClr val="dk2"/>
                </a:solidFill>
              </a:defRPr>
            </a:lvl3pPr>
            <a:lvl4pPr algn="r" lvl="3">
              <a:buNone/>
              <a:defRPr sz="1000">
                <a:solidFill>
                  <a:schemeClr val="dk2"/>
                </a:solidFill>
              </a:defRPr>
            </a:lvl4pPr>
            <a:lvl5pPr algn="r" lvl="4">
              <a:buNone/>
              <a:defRPr sz="1000">
                <a:solidFill>
                  <a:schemeClr val="dk2"/>
                </a:solidFill>
              </a:defRPr>
            </a:lvl5pPr>
            <a:lvl6pPr algn="r" lvl="5">
              <a:buNone/>
              <a:defRPr sz="1000">
                <a:solidFill>
                  <a:schemeClr val="dk2"/>
                </a:solidFill>
              </a:defRPr>
            </a:lvl6pPr>
            <a:lvl7pPr algn="r" lvl="6">
              <a:buNone/>
              <a:defRPr sz="1000">
                <a:solidFill>
                  <a:schemeClr val="dk2"/>
                </a:solidFill>
              </a:defRPr>
            </a:lvl7pPr>
            <a:lvl8pPr algn="r" lvl="7">
              <a:buNone/>
              <a:defRPr sz="1000">
                <a:solidFill>
                  <a:schemeClr val="dk2"/>
                </a:solidFill>
              </a:defRPr>
            </a:lvl8pPr>
            <a:lvl9pPr algn="r" lvl="8">
              <a:buNone/>
              <a:defRPr sz="1000">
                <a:solidFill>
                  <a:schemeClr val="dk2"/>
                </a:solidFill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Nopal-Sense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Mixed-Signal Soil Impedance Spectroscopy Hub</a:t>
            </a:r>
            <a:br/>
            <a:r>
              <a:rPr/>
              <a:t>IEEE SSCS PICO Open-Source Chipathon 2026</a:t>
            </a:r>
            <a:br/>
            <a:r>
              <a:rPr/>
              <a:t>Week 24 Project Proposal Review - June 12, 2026</a:t>
            </a:r>
          </a:p>
          <a:p>
            <a:pPr lvl="0" indent="0" marL="0">
              <a:buNone/>
            </a:pPr>
            <a:r>
              <a:rPr b="1"/>
              <a:t>Team members:</a:t>
            </a:r>
            <a:br/>
            <a:r>
              <a:rPr/>
              <a:t>Leader: Ernest Zermeño (@Jefemaestro33)</a:t>
            </a:r>
            <a:br/>
            <a:r>
              <a:rPr/>
              <a:t>Individual Track B participant</a:t>
            </a:r>
          </a:p>
          <a:p>
            <a:pPr lvl="0" indent="0" marL="0">
              <a:buNone/>
            </a:pPr>
            <a:r>
              <a:rPr b="1"/>
              <a:t>Contact email:</a:t>
            </a:r>
            <a:br/>
            <a:r>
              <a:rPr/>
              <a:t>ernest@zlabstudio.com</a:t>
            </a:r>
          </a:p>
          <a:p>
            <a:pPr lvl="0" indent="0" marL="0">
              <a:buNone/>
            </a:pPr>
            <a:r>
              <a:rPr b="1"/>
              <a:t>Track:</a:t>
            </a:r>
            <a:br/>
            <a:r>
              <a:rPr/>
              <a:t>B - Circuits for Sensors</a:t>
            </a:r>
            <a:br/>
            <a:r>
              <a:rPr/>
              <a:t>Secondary relevance: D - AI/LLM-assisted audit and documentation workflow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Project Information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 (2 sentences)</a:t>
            </a:r>
            <a:br/>
            <a:r>
              <a:rPr/>
              <a:t>Nopal-Sense aims to tape out a low-power mixed-signal soil-impedance spectroscopy ASIC for agricultural deployments. The chip generates controlled multi-frequency excitation through soil electrodes, measures the root-zone response, and exposes calibrated data through a simple SPI-controlled hub.</a:t>
            </a:r>
          </a:p>
          <a:p>
            <a:pPr lvl="0" indent="0" marL="0">
              <a:buNone/>
            </a:pPr>
            <a:r>
              <a:rPr b="1"/>
              <a:t>Design - High Level Proposal (2-3 sentences + image)</a:t>
            </a:r>
            <a:br/>
            <a:r>
              <a:rPr/>
              <a:t>The differentiating block is the soil impedance spectroscopy path: DDS/DAC excitation, electrode interface, TIA/IQ readout, filtering, and shared SAR ADC. Around it, v1 adds SPI registers, scheduler, alerts, and bridge interfaces; digital RTL is integrated under </a:t>
            </a:r>
            <a:r>
              <a:rPr>
                <a:latin typeface="Courier"/>
              </a:rPr>
              <a:t>v1-pico/</a:t>
            </a:r>
            <a:r>
              <a:rPr/>
              <a:t> with 185/185 Icarus assertions passing. The tapeout scope is the spectroscopy measurement platform; long-term stress/root-disease inference belongs to off-chip datasets, software, and AI models after validation.</a:t>
            </a:r>
          </a:p>
          <a:p>
            <a:pPr lvl="0" indent="0" marL="0">
              <a:buNone/>
            </a:pPr>
            <a:r>
              <a:rPr b="1"/>
              <a:t>Application (1 sentence)</a:t>
            </a:r>
            <a:br/>
            <a:r>
              <a:rPr/>
              <a:t>Low-cost agricultural soil impedance spectroscopy for irrigation, salinity, and root-zone condition tracking, with a future data path toward software models for validated fungal/oomycete-related stress patterns.</a:t>
            </a:r>
          </a:p>
          <a:p>
            <a:pPr lvl="0" indent="0" marL="0">
              <a:buNone/>
            </a:pPr>
            <a:r>
              <a:rPr b="1"/>
              <a:t>References</a:t>
            </a:r>
            <a:br/>
            <a:r>
              <a:rPr/>
              <a:t>SSCS Chipathon 2026 repo and guidelines; Nopal-Sense public repo/spec/architecture; Kelleners et al., 2009; Samouelian et al., 2005.</a:t>
            </a:r>
          </a:p>
        </p:txBody>
      </p:sp>
      <p:pic>
        <p:nvPicPr>
          <p:cNvPr descr="assets/nopal_sense_system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54100"/>
            <a:ext cx="51054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Academic Experience</a:t>
            </a:r>
            <a:br/>
            <a:r>
              <a:rPr/>
              <a:t>Ernest Zermeño - Biology background, currently working in bioinformatics research involving CRISPR and experimental biology. Technical interests include computational biology, data analysis, embedded systems, and measurement tools for biological and agricultural systems.</a:t>
            </a:r>
          </a:p>
          <a:p>
            <a:pPr lvl="0" indent="0" marL="0">
              <a:buNone/>
            </a:pPr>
            <a:r>
              <a:rPr b="1"/>
              <a:t>Work Experience</a:t>
            </a:r>
            <a:br/>
            <a:r>
              <a:rPr/>
              <a:t>Software and applied technology work through zlabstudio. Previous work includes exploring FHE-based software development and building practical software systems, with a focus on turning technical ideas into usable tools.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Questions, Suggestions, Doubts?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the v1 must-work scope realistic if limited to soil impedance spectroscopy AFE, shared SAR ADC, SPI register access, and low-power scheduling?</a:t>
            </a:r>
          </a:p>
          <a:p>
            <a:pPr lvl="0"/>
            <a:r>
              <a:rPr/>
              <a:t>Should the ADC be a custom SAR implementation in v1, or should Nopal-Sense reuse an existing open-source/reference ADC to reduce schedule risk?</a:t>
            </a:r>
          </a:p>
          <a:p>
            <a:pPr lvl="0"/>
            <a:r>
              <a:rPr/>
              <a:t>What electrode protection, ESD strategy, and analog pad usage are recommended for soil probes connected outside the chip package?</a:t>
            </a:r>
          </a:p>
          <a:p>
            <a:pPr lvl="0"/>
            <a:r>
              <a:rPr/>
              <a:t>Are 10 kHz, 30 kHz, and 100 kHz acceptable first-tapeout frequencies for root-zone impedance, or should the top frequency be reduced for robustness?</a:t>
            </a:r>
          </a:p>
          <a:p>
            <a:pPr lvl="0"/>
            <a:r>
              <a:rPr/>
              <a:t>What minimum AMS validation evidence is expected by the July block and top-level simulation reviews?</a:t>
            </a: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2026-06-06T08:22:49Z</dcterms:created>
  <dcterms:modified xsi:type="dcterms:W3CDTF">2026-06-06T08:22:49Z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